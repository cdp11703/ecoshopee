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Nunito"/>
      <p:regular r:id="rId22"/>
      <p:bold r:id="rId23"/>
      <p:italic r:id="rId24"/>
      <p:boldItalic r:id="rId25"/>
    </p:embeddedFont>
    <p:embeddedFont>
      <p:font typeface="Maven Pro"/>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urelio Rodolfo Garcia"/>
  <p:cmAuthor clrIdx="1" id="1" initials="" lastIdx="1" name="Miguel Francis Estañol"/>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Nunito-regular.fntdata"/><Relationship Id="rId21" Type="http://schemas.openxmlformats.org/officeDocument/2006/relationships/slide" Target="slides/slide15.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MavenPro-regular.fntdata"/><Relationship Id="rId25" Type="http://schemas.openxmlformats.org/officeDocument/2006/relationships/font" Target="fonts/Nunito-boldItalic.fntdata"/><Relationship Id="rId27" Type="http://schemas.openxmlformats.org/officeDocument/2006/relationships/font" Target="fonts/MavenPr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5-16T12:19:36.943">
    <p:pos x="821" y="817"/>
    <p:text>AJ</p:text>
  </p:cm>
  <p:cm authorId="1" idx="1" dt="2024-05-16T12:22:35.528">
    <p:pos x="821" y="917"/>
    <p:text>Miguel</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4-05-16T12:24:43.961">
    <p:pos x="821" y="817"/>
    <p:text>Presenter (Change Name)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AJ</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f03081be89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f03081be89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71759b147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71759b147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71759b147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71759b147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71759b147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71759b147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71759b1474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71759b147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71759b147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71759b147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717d042345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717d042345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7190c40c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7190c40c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7190c40c4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7190c40c4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7190c40c4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7190c40c4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7190c40c4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7190c40c4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7190c40c4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7190c40c4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7190c40c4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7190c40c4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7190c40c4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7190c40c4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xmovement.com/content/why-you-should-avoid-bright-saturated-background-colors/" TargetMode="External"/><Relationship Id="rId4" Type="http://schemas.openxmlformats.org/officeDocument/2006/relationships/hyperlink" Target="https://www.researchgate.net/publication/375893224_Improving_Legibility_of_User_Interfaces_for_Low_Vision_Conditions_with_a_Crowdsource_Platform" TargetMode="External"/><Relationship Id="rId5" Type="http://schemas.openxmlformats.org/officeDocument/2006/relationships/hyperlink" Target="https://www.news-medical.net/health/Implications-of-Color-Blindness.asp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aaltodoc.aalto.fi/items/c3441e18-c27d-4a67-8a06-219502bf4ad3" TargetMode="External"/><Relationship Id="rId4" Type="http://schemas.openxmlformats.org/officeDocument/2006/relationships/hyperlink" Target="https://tmb.apaopen.org/pub/nn9uaqsz/release/3" TargetMode="External"/><Relationship Id="rId5" Type="http://schemas.openxmlformats.org/officeDocument/2006/relationships/hyperlink" Target="https://deepblue.lib.umich.edu/handle/2027.42/19312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761D"/>
        </a:solidFill>
      </p:bgPr>
    </p:bg>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4340"/>
              <a:t>Needfinding Proposal#1</a:t>
            </a:r>
            <a:endParaRPr sz="434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281" name="Shape 281"/>
        <p:cNvGrpSpPr/>
        <p:nvPr/>
      </p:nvGrpSpPr>
      <p:grpSpPr>
        <a:xfrm>
          <a:off x="0" y="0"/>
          <a:ext cx="0" cy="0"/>
          <a:chOff x="0" y="0"/>
          <a:chExt cx="0" cy="0"/>
        </a:xfrm>
      </p:grpSpPr>
      <p:sp>
        <p:nvSpPr>
          <p:cNvPr id="282" name="Google Shape;282;p14"/>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SDG and Introduction</a:t>
            </a:r>
            <a:endParaRPr/>
          </a:p>
        </p:txBody>
      </p:sp>
      <p:sp>
        <p:nvSpPr>
          <p:cNvPr id="283" name="Google Shape;283;p14"/>
          <p:cNvSpPr txBox="1"/>
          <p:nvPr>
            <p:ph idx="1" type="body"/>
          </p:nvPr>
        </p:nvSpPr>
        <p:spPr>
          <a:xfrm>
            <a:off x="1303800" y="1298175"/>
            <a:ext cx="7030500" cy="3233400"/>
          </a:xfrm>
          <a:prstGeom prst="rect">
            <a:avLst/>
          </a:prstGeom>
        </p:spPr>
        <p:txBody>
          <a:bodyPr anchorCtr="0" anchor="t" bIns="91425" lIns="91425" spcFirstLastPara="1" rIns="91425" wrap="square" tIns="91425">
            <a:normAutofit fontScale="92500" lnSpcReduction="10000"/>
          </a:bodyPr>
          <a:lstStyle/>
          <a:p>
            <a:pPr indent="-231140" lvl="0" marL="182880" rtl="0" algn="just">
              <a:spcBef>
                <a:spcPts val="0"/>
              </a:spcBef>
              <a:spcAft>
                <a:spcPts val="0"/>
              </a:spcAft>
              <a:buClr>
                <a:srgbClr val="005000"/>
              </a:buClr>
              <a:buSzPct val="100000"/>
              <a:buFont typeface="Maven Pro Medium"/>
              <a:buChar char="●"/>
            </a:pPr>
            <a:r>
              <a:rPr lang="en" sz="1600">
                <a:solidFill>
                  <a:srgbClr val="005000"/>
                </a:solidFill>
                <a:latin typeface="Arial"/>
                <a:ea typeface="Arial"/>
                <a:cs typeface="Arial"/>
                <a:sym typeface="Arial"/>
              </a:rPr>
              <a:t>This proposal focuses on the 3rd </a:t>
            </a:r>
            <a:r>
              <a:rPr lang="en" sz="1600" u="sng">
                <a:solidFill>
                  <a:srgbClr val="005000"/>
                </a:solidFill>
                <a:latin typeface="Arial"/>
                <a:ea typeface="Arial"/>
                <a:cs typeface="Arial"/>
                <a:sym typeface="Arial"/>
              </a:rPr>
              <a:t>Sustainable Development Goal</a:t>
            </a:r>
            <a:r>
              <a:rPr lang="en" sz="1600">
                <a:solidFill>
                  <a:srgbClr val="005000"/>
                </a:solidFill>
                <a:latin typeface="Arial"/>
                <a:ea typeface="Arial"/>
                <a:cs typeface="Arial"/>
                <a:sym typeface="Arial"/>
              </a:rPr>
              <a:t> of the United Nations: </a:t>
            </a:r>
            <a:r>
              <a:rPr b="1" lang="en" sz="1600">
                <a:solidFill>
                  <a:srgbClr val="005000"/>
                </a:solidFill>
                <a:latin typeface="Arial"/>
                <a:ea typeface="Arial"/>
                <a:cs typeface="Arial"/>
                <a:sym typeface="Arial"/>
              </a:rPr>
              <a:t>Good Health and Well-being</a:t>
            </a:r>
            <a:endParaRPr sz="1600">
              <a:solidFill>
                <a:srgbClr val="005000"/>
              </a:solidFill>
              <a:latin typeface="Arial"/>
              <a:ea typeface="Arial"/>
              <a:cs typeface="Arial"/>
              <a:sym typeface="Arial"/>
            </a:endParaRPr>
          </a:p>
          <a:p>
            <a:pPr indent="-231140" lvl="0" marL="182880" rtl="0" algn="just">
              <a:spcBef>
                <a:spcPts val="0"/>
              </a:spcBef>
              <a:spcAft>
                <a:spcPts val="0"/>
              </a:spcAft>
              <a:buClr>
                <a:srgbClr val="005000"/>
              </a:buClr>
              <a:buSzPct val="100000"/>
              <a:buFont typeface="Maven Pro Medium"/>
              <a:buChar char="●"/>
            </a:pPr>
            <a:r>
              <a:rPr lang="en" sz="1600">
                <a:solidFill>
                  <a:srgbClr val="005000"/>
                </a:solidFill>
                <a:latin typeface="Arial"/>
                <a:ea typeface="Arial"/>
                <a:cs typeface="Arial"/>
                <a:sym typeface="Arial"/>
              </a:rPr>
              <a:t>Many applications meant for the public, a lot of which have become important for professional and social interaction,have UI designs that may trigger issues in those with visual or neural issues. </a:t>
            </a:r>
            <a:r>
              <a:rPr lang="en" sz="1600">
                <a:solidFill>
                  <a:srgbClr val="005000"/>
                </a:solidFill>
                <a:latin typeface="Arial"/>
                <a:ea typeface="Arial"/>
                <a:cs typeface="Arial"/>
                <a:sym typeface="Arial"/>
              </a:rPr>
              <a:t>Example UI design elements include:</a:t>
            </a:r>
            <a:endParaRPr sz="1600">
              <a:solidFill>
                <a:srgbClr val="005000"/>
              </a:solidFill>
              <a:latin typeface="Arial"/>
              <a:ea typeface="Arial"/>
              <a:cs typeface="Arial"/>
              <a:sym typeface="Arial"/>
            </a:endParaRPr>
          </a:p>
          <a:p>
            <a:pPr indent="-208280" lvl="1" marL="400050" rtl="0" algn="just">
              <a:spcBef>
                <a:spcPts val="0"/>
              </a:spcBef>
              <a:spcAft>
                <a:spcPts val="0"/>
              </a:spcAft>
              <a:buClr>
                <a:srgbClr val="005000"/>
              </a:buClr>
              <a:buSzPct val="100000"/>
              <a:buFont typeface="Maven Pro Medium"/>
              <a:buChar char="○"/>
            </a:pPr>
            <a:r>
              <a:rPr lang="en" sz="1600">
                <a:solidFill>
                  <a:srgbClr val="005000"/>
                </a:solidFill>
                <a:latin typeface="Arial"/>
                <a:ea typeface="Arial"/>
                <a:cs typeface="Arial"/>
                <a:sym typeface="Arial"/>
              </a:rPr>
              <a:t>Extreme brightness </a:t>
            </a:r>
            <a:endParaRPr sz="1600">
              <a:solidFill>
                <a:srgbClr val="005000"/>
              </a:solidFill>
              <a:latin typeface="Arial"/>
              <a:ea typeface="Arial"/>
              <a:cs typeface="Arial"/>
              <a:sym typeface="Arial"/>
            </a:endParaRPr>
          </a:p>
          <a:p>
            <a:pPr indent="-208280" lvl="1" marL="400050" rtl="0" algn="just">
              <a:spcBef>
                <a:spcPts val="0"/>
              </a:spcBef>
              <a:spcAft>
                <a:spcPts val="0"/>
              </a:spcAft>
              <a:buClr>
                <a:srgbClr val="005000"/>
              </a:buClr>
              <a:buSzPct val="100000"/>
              <a:buFont typeface="Maven Pro Medium"/>
              <a:buChar char="○"/>
            </a:pPr>
            <a:r>
              <a:rPr lang="en" sz="1600">
                <a:solidFill>
                  <a:srgbClr val="005000"/>
                </a:solidFill>
                <a:latin typeface="Arial"/>
                <a:ea typeface="Arial"/>
                <a:cs typeface="Arial"/>
                <a:sym typeface="Arial"/>
              </a:rPr>
              <a:t>Hyper-saturated color schemes </a:t>
            </a:r>
            <a:endParaRPr sz="1600">
              <a:solidFill>
                <a:srgbClr val="005000"/>
              </a:solidFill>
              <a:latin typeface="Arial"/>
              <a:ea typeface="Arial"/>
              <a:cs typeface="Arial"/>
              <a:sym typeface="Arial"/>
            </a:endParaRPr>
          </a:p>
          <a:p>
            <a:pPr indent="-208280" lvl="1" marL="400050" rtl="0" algn="just">
              <a:spcBef>
                <a:spcPts val="0"/>
              </a:spcBef>
              <a:spcAft>
                <a:spcPts val="0"/>
              </a:spcAft>
              <a:buClr>
                <a:srgbClr val="005000"/>
              </a:buClr>
              <a:buSzPct val="100000"/>
              <a:buFont typeface="Maven Pro Medium"/>
              <a:buChar char="○"/>
            </a:pPr>
            <a:r>
              <a:rPr lang="en" sz="1600">
                <a:solidFill>
                  <a:srgbClr val="005000"/>
                </a:solidFill>
                <a:latin typeface="Arial"/>
                <a:ea typeface="Arial"/>
                <a:cs typeface="Arial"/>
                <a:sym typeface="Arial"/>
              </a:rPr>
              <a:t>Rapidly changing colors </a:t>
            </a:r>
            <a:endParaRPr sz="1600">
              <a:solidFill>
                <a:srgbClr val="005000"/>
              </a:solidFill>
              <a:latin typeface="Arial"/>
              <a:ea typeface="Arial"/>
              <a:cs typeface="Arial"/>
              <a:sym typeface="Arial"/>
            </a:endParaRPr>
          </a:p>
          <a:p>
            <a:pPr indent="-208280" lvl="1" marL="400050" rtl="0" algn="just">
              <a:spcBef>
                <a:spcPts val="0"/>
              </a:spcBef>
              <a:spcAft>
                <a:spcPts val="0"/>
              </a:spcAft>
              <a:buClr>
                <a:srgbClr val="005000"/>
              </a:buClr>
              <a:buSzPct val="100000"/>
              <a:buFont typeface="Maven Pro Medium"/>
              <a:buChar char="○"/>
            </a:pPr>
            <a:r>
              <a:rPr lang="en" sz="1600">
                <a:solidFill>
                  <a:srgbClr val="005000"/>
                </a:solidFill>
                <a:latin typeface="Arial"/>
                <a:ea typeface="Arial"/>
                <a:cs typeface="Arial"/>
                <a:sym typeface="Arial"/>
              </a:rPr>
              <a:t>Very small fonts</a:t>
            </a:r>
            <a:endParaRPr sz="1600">
              <a:solidFill>
                <a:srgbClr val="005000"/>
              </a:solidFill>
              <a:latin typeface="Arial"/>
              <a:ea typeface="Arial"/>
              <a:cs typeface="Arial"/>
              <a:sym typeface="Arial"/>
            </a:endParaRPr>
          </a:p>
          <a:p>
            <a:pPr indent="-231140" lvl="0" marL="182880" rtl="0" algn="just">
              <a:spcBef>
                <a:spcPts val="0"/>
              </a:spcBef>
              <a:spcAft>
                <a:spcPts val="0"/>
              </a:spcAft>
              <a:buClr>
                <a:srgbClr val="005000"/>
              </a:buClr>
              <a:buSzPct val="100000"/>
              <a:buFont typeface="Maven Pro Medium"/>
              <a:buChar char="●"/>
            </a:pPr>
            <a:r>
              <a:rPr lang="en" sz="1600">
                <a:solidFill>
                  <a:srgbClr val="005000"/>
                </a:solidFill>
                <a:latin typeface="Arial"/>
                <a:ea typeface="Arial"/>
                <a:cs typeface="Arial"/>
                <a:sym typeface="Arial"/>
              </a:rPr>
              <a:t>Hence, our team proposes to research into the topic to find ways for UIs to reduce the risk for neurovisual damage and propose more inclusive UX designs for those with neurovisual conditions.</a:t>
            </a:r>
            <a:endParaRPr sz="1600">
              <a:solidFill>
                <a:srgbClr val="005000"/>
              </a:solidFill>
              <a:latin typeface="Arial"/>
              <a:ea typeface="Arial"/>
              <a:cs typeface="Arial"/>
              <a:sym typeface="Arial"/>
            </a:endParaRPr>
          </a:p>
          <a:p>
            <a:pPr indent="0" lvl="0" marL="0" rtl="0" algn="just">
              <a:lnSpc>
                <a:spcPct val="100000"/>
              </a:lnSpc>
              <a:spcBef>
                <a:spcPts val="0"/>
              </a:spcBef>
              <a:spcAft>
                <a:spcPts val="0"/>
              </a:spcAft>
              <a:buNone/>
            </a:pPr>
            <a:r>
              <a:t/>
            </a:r>
            <a:endParaRPr b="1" sz="1600">
              <a:solidFill>
                <a:srgbClr val="005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287" name="Shape 287"/>
        <p:cNvGrpSpPr/>
        <p:nvPr/>
      </p:nvGrpSpPr>
      <p:grpSpPr>
        <a:xfrm>
          <a:off x="0" y="0"/>
          <a:ext cx="0" cy="0"/>
          <a:chOff x="0" y="0"/>
          <a:chExt cx="0" cy="0"/>
        </a:xfrm>
      </p:grpSpPr>
      <p:sp>
        <p:nvSpPr>
          <p:cNvPr id="288" name="Google Shape;288;p15"/>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Statement</a:t>
            </a:r>
            <a:endParaRPr/>
          </a:p>
        </p:txBody>
      </p:sp>
      <p:sp>
        <p:nvSpPr>
          <p:cNvPr id="289" name="Google Shape;289;p15"/>
          <p:cNvSpPr txBox="1"/>
          <p:nvPr>
            <p:ph idx="1" type="body"/>
          </p:nvPr>
        </p:nvSpPr>
        <p:spPr>
          <a:xfrm>
            <a:off x="1303800" y="1298175"/>
            <a:ext cx="7030500" cy="3233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sz="2400">
                <a:solidFill>
                  <a:srgbClr val="005000"/>
                </a:solidFill>
                <a:latin typeface="Arial"/>
                <a:ea typeface="Arial"/>
                <a:cs typeface="Arial"/>
                <a:sym typeface="Arial"/>
              </a:rPr>
              <a:t>How might we reduce the neurovisual risks of user interfaces of popular applications?</a:t>
            </a:r>
            <a:endParaRPr sz="2400">
              <a:solidFill>
                <a:srgbClr val="005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293" name="Shape 293"/>
        <p:cNvGrpSpPr/>
        <p:nvPr/>
      </p:nvGrpSpPr>
      <p:grpSpPr>
        <a:xfrm>
          <a:off x="0" y="0"/>
          <a:ext cx="0" cy="0"/>
          <a:chOff x="0" y="0"/>
          <a:chExt cx="0" cy="0"/>
        </a:xfrm>
      </p:grpSpPr>
      <p:sp>
        <p:nvSpPr>
          <p:cNvPr id="294" name="Google Shape;294;p16"/>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295" name="Google Shape;295;p16"/>
          <p:cNvSpPr txBox="1"/>
          <p:nvPr>
            <p:ph idx="1" type="body"/>
          </p:nvPr>
        </p:nvSpPr>
        <p:spPr>
          <a:xfrm>
            <a:off x="1303800" y="1298175"/>
            <a:ext cx="7030500" cy="3233400"/>
          </a:xfrm>
          <a:prstGeom prst="rect">
            <a:avLst/>
          </a:prstGeom>
        </p:spPr>
        <p:txBody>
          <a:bodyPr anchorCtr="0" anchor="ctr" bIns="91425" lIns="91425" spcFirstLastPara="1" rIns="91425" wrap="square" tIns="91425">
            <a:normAutofit/>
          </a:bodyPr>
          <a:lstStyle/>
          <a:p>
            <a:pPr indent="-311150" lvl="0" marL="457200" rtl="0" algn="just">
              <a:lnSpc>
                <a:spcPct val="100000"/>
              </a:lnSpc>
              <a:spcBef>
                <a:spcPts val="0"/>
              </a:spcBef>
              <a:spcAft>
                <a:spcPts val="0"/>
              </a:spcAft>
              <a:buClr>
                <a:srgbClr val="005000"/>
              </a:buClr>
              <a:buSzPts val="1300"/>
              <a:buFont typeface="Arial"/>
              <a:buChar char="●"/>
            </a:pPr>
            <a:r>
              <a:rPr lang="en" u="sng">
                <a:solidFill>
                  <a:schemeClr val="hlink"/>
                </a:solidFill>
                <a:latin typeface="Arial"/>
                <a:ea typeface="Arial"/>
                <a:cs typeface="Arial"/>
                <a:sym typeface="Arial"/>
                <a:hlinkClick r:id="rId3"/>
              </a:rPr>
              <a:t>https://uxmovement.com/content/why-you-should-avoid-bright-saturated-background-colors/</a:t>
            </a:r>
            <a:r>
              <a:rPr lang="en">
                <a:latin typeface="Arial"/>
                <a:ea typeface="Arial"/>
                <a:cs typeface="Arial"/>
                <a:sym typeface="Arial"/>
              </a:rPr>
              <a:t> </a:t>
            </a:r>
            <a:endParaRPr>
              <a:latin typeface="Arial"/>
              <a:ea typeface="Arial"/>
              <a:cs typeface="Arial"/>
              <a:sym typeface="Arial"/>
            </a:endParaRPr>
          </a:p>
          <a:p>
            <a:pPr indent="-311150" lvl="0" marL="457200" rtl="0" algn="just">
              <a:lnSpc>
                <a:spcPct val="100000"/>
              </a:lnSpc>
              <a:spcBef>
                <a:spcPts val="0"/>
              </a:spcBef>
              <a:spcAft>
                <a:spcPts val="0"/>
              </a:spcAft>
              <a:buClr>
                <a:srgbClr val="005000"/>
              </a:buClr>
              <a:buSzPts val="1300"/>
              <a:buFont typeface="Arial"/>
              <a:buChar char="●"/>
            </a:pPr>
            <a:r>
              <a:rPr lang="en" u="sng">
                <a:solidFill>
                  <a:schemeClr val="hlink"/>
                </a:solidFill>
                <a:latin typeface="Arial"/>
                <a:ea typeface="Arial"/>
                <a:cs typeface="Arial"/>
                <a:sym typeface="Arial"/>
                <a:hlinkClick r:id="rId4"/>
              </a:rPr>
              <a:t>https://www.researchgate.net/publication/375893224_Improving_Legibility_of_User_Interfaces_for_Low_Vision_Conditions_with_a_Crowdsource_Platform</a:t>
            </a:r>
            <a:endParaRPr>
              <a:solidFill>
                <a:srgbClr val="005000"/>
              </a:solidFill>
              <a:latin typeface="Arial"/>
              <a:ea typeface="Arial"/>
              <a:cs typeface="Arial"/>
              <a:sym typeface="Arial"/>
            </a:endParaRPr>
          </a:p>
          <a:p>
            <a:pPr indent="-311150" lvl="0" marL="457200" rtl="0" algn="just">
              <a:lnSpc>
                <a:spcPct val="100000"/>
              </a:lnSpc>
              <a:spcBef>
                <a:spcPts val="0"/>
              </a:spcBef>
              <a:spcAft>
                <a:spcPts val="0"/>
              </a:spcAft>
              <a:buClr>
                <a:srgbClr val="005000"/>
              </a:buClr>
              <a:buSzPts val="1300"/>
              <a:buFont typeface="Arial"/>
              <a:buChar char="●"/>
            </a:pPr>
            <a:r>
              <a:rPr lang="en" u="sng">
                <a:solidFill>
                  <a:schemeClr val="hlink"/>
                </a:solidFill>
                <a:latin typeface="Arial"/>
                <a:ea typeface="Arial"/>
                <a:cs typeface="Arial"/>
                <a:sym typeface="Arial"/>
                <a:hlinkClick r:id="rId5"/>
              </a:rPr>
              <a:t>https://www.news-medical.net/health/Implications-of-Color-Blindness.aspx</a:t>
            </a:r>
            <a:endParaRPr sz="1900">
              <a:solidFill>
                <a:srgbClr val="005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761D"/>
        </a:solidFill>
      </p:bgPr>
    </p:bg>
    <p:spTree>
      <p:nvGrpSpPr>
        <p:cNvPr id="299" name="Shape 299"/>
        <p:cNvGrpSpPr/>
        <p:nvPr/>
      </p:nvGrpSpPr>
      <p:grpSpPr>
        <a:xfrm>
          <a:off x="0" y="0"/>
          <a:ext cx="0" cy="0"/>
          <a:chOff x="0" y="0"/>
          <a:chExt cx="0" cy="0"/>
        </a:xfrm>
      </p:grpSpPr>
      <p:sp>
        <p:nvSpPr>
          <p:cNvPr id="300" name="Google Shape;300;p17"/>
          <p:cNvSpPr txBox="1"/>
          <p:nvPr>
            <p:ph type="ctrTitle"/>
          </p:nvPr>
        </p:nvSpPr>
        <p:spPr>
          <a:xfrm>
            <a:off x="824000" y="1613813"/>
            <a:ext cx="4255500" cy="187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4340"/>
              <a:t>Needfinding Proposal#2</a:t>
            </a:r>
            <a:endParaRPr sz="434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04" name="Shape 304"/>
        <p:cNvGrpSpPr/>
        <p:nvPr/>
      </p:nvGrpSpPr>
      <p:grpSpPr>
        <a:xfrm>
          <a:off x="0" y="0"/>
          <a:ext cx="0" cy="0"/>
          <a:chOff x="0" y="0"/>
          <a:chExt cx="0" cy="0"/>
        </a:xfrm>
      </p:grpSpPr>
      <p:sp>
        <p:nvSpPr>
          <p:cNvPr id="305" name="Google Shape;305;p18"/>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SDG and Introduction</a:t>
            </a:r>
            <a:endParaRPr/>
          </a:p>
        </p:txBody>
      </p:sp>
      <p:sp>
        <p:nvSpPr>
          <p:cNvPr id="306" name="Google Shape;306;p18"/>
          <p:cNvSpPr txBox="1"/>
          <p:nvPr>
            <p:ph idx="1" type="body"/>
          </p:nvPr>
        </p:nvSpPr>
        <p:spPr>
          <a:xfrm>
            <a:off x="1303800" y="1298175"/>
            <a:ext cx="7030500" cy="3233400"/>
          </a:xfrm>
          <a:prstGeom prst="rect">
            <a:avLst/>
          </a:prstGeom>
        </p:spPr>
        <p:txBody>
          <a:bodyPr anchorCtr="0" anchor="t" bIns="91425" lIns="91425" spcFirstLastPara="1" rIns="91425" wrap="square" tIns="91425">
            <a:normAutofit lnSpcReduction="10000"/>
          </a:bodyPr>
          <a:lstStyle/>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This proposal focuses on the 3rd </a:t>
            </a:r>
            <a:r>
              <a:rPr lang="en" sz="1600" u="sng">
                <a:solidFill>
                  <a:srgbClr val="005000"/>
                </a:solidFill>
                <a:latin typeface="Arial"/>
                <a:ea typeface="Arial"/>
                <a:cs typeface="Arial"/>
                <a:sym typeface="Arial"/>
              </a:rPr>
              <a:t>Sustainable Development Goal</a:t>
            </a:r>
            <a:r>
              <a:rPr lang="en" sz="1600">
                <a:solidFill>
                  <a:srgbClr val="005000"/>
                </a:solidFill>
                <a:latin typeface="Arial"/>
                <a:ea typeface="Arial"/>
                <a:cs typeface="Arial"/>
                <a:sym typeface="Arial"/>
              </a:rPr>
              <a:t> of the United Nations: </a:t>
            </a:r>
            <a:r>
              <a:rPr b="1" lang="en" sz="1600">
                <a:solidFill>
                  <a:srgbClr val="005000"/>
                </a:solidFill>
                <a:latin typeface="Arial"/>
                <a:ea typeface="Arial"/>
                <a:cs typeface="Arial"/>
                <a:sym typeface="Arial"/>
              </a:rPr>
              <a:t>Good Health and Well-being</a:t>
            </a:r>
            <a:endParaRPr sz="1600">
              <a:solidFill>
                <a:srgbClr val="005000"/>
              </a:solidFill>
              <a:latin typeface="Arial"/>
              <a:ea typeface="Arial"/>
              <a:cs typeface="Arial"/>
              <a:sym typeface="Arial"/>
            </a:endParaRPr>
          </a:p>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Social media applications are among the most popular in the world. Among their many controversies is the rampant promotion of unhealthy habits via content feeds </a:t>
            </a:r>
            <a:r>
              <a:rPr lang="en" sz="1600">
                <a:solidFill>
                  <a:srgbClr val="005000"/>
                </a:solidFill>
                <a:latin typeface="Arial"/>
                <a:ea typeface="Arial"/>
                <a:cs typeface="Arial"/>
                <a:sym typeface="Arial"/>
              </a:rPr>
              <a:t>favoring user-baiting content or advertisements promoting such behavior</a:t>
            </a:r>
            <a:r>
              <a:rPr lang="en" sz="1600">
                <a:solidFill>
                  <a:srgbClr val="005000"/>
                </a:solidFill>
                <a:latin typeface="Arial"/>
                <a:ea typeface="Arial"/>
                <a:cs typeface="Arial"/>
                <a:sym typeface="Arial"/>
              </a:rPr>
              <a:t>:</a:t>
            </a:r>
            <a:endParaRPr sz="1600">
              <a:solidFill>
                <a:srgbClr val="005000"/>
              </a:solidFill>
              <a:latin typeface="Arial"/>
              <a:ea typeface="Arial"/>
              <a:cs typeface="Arial"/>
              <a:sym typeface="Arial"/>
            </a:endParaRPr>
          </a:p>
          <a:p>
            <a:pPr indent="-215900" lvl="1" marL="40005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Unhealthy consumption</a:t>
            </a:r>
            <a:endParaRPr sz="1600">
              <a:solidFill>
                <a:srgbClr val="005000"/>
              </a:solidFill>
              <a:latin typeface="Arial"/>
              <a:ea typeface="Arial"/>
              <a:cs typeface="Arial"/>
              <a:sym typeface="Arial"/>
            </a:endParaRPr>
          </a:p>
          <a:p>
            <a:pPr indent="-215900" lvl="1" marL="40005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Addictions, particularly gambling</a:t>
            </a:r>
            <a:endParaRPr sz="1600">
              <a:solidFill>
                <a:srgbClr val="005000"/>
              </a:solidFill>
              <a:latin typeface="Arial"/>
              <a:ea typeface="Arial"/>
              <a:cs typeface="Arial"/>
              <a:sym typeface="Arial"/>
            </a:endParaRPr>
          </a:p>
          <a:p>
            <a:pPr indent="-215900" lvl="1" marL="400050" rtl="0" algn="just">
              <a:spcBef>
                <a:spcPts val="0"/>
              </a:spcBef>
              <a:spcAft>
                <a:spcPts val="0"/>
              </a:spcAft>
              <a:buClr>
                <a:srgbClr val="005000"/>
              </a:buClr>
              <a:buSzPts val="1600"/>
              <a:buFont typeface="Arial"/>
              <a:buChar char="○"/>
            </a:pPr>
            <a:r>
              <a:rPr lang="en" sz="1600">
                <a:solidFill>
                  <a:srgbClr val="005000"/>
                </a:solidFill>
                <a:latin typeface="Arial"/>
                <a:ea typeface="Arial"/>
                <a:cs typeface="Arial"/>
                <a:sym typeface="Arial"/>
              </a:rPr>
              <a:t>Bad posture and sedentary physical movements</a:t>
            </a:r>
            <a:endParaRPr sz="1600">
              <a:solidFill>
                <a:srgbClr val="005000"/>
              </a:solidFill>
              <a:latin typeface="Arial"/>
              <a:ea typeface="Arial"/>
              <a:cs typeface="Arial"/>
              <a:sym typeface="Arial"/>
            </a:endParaRPr>
          </a:p>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Hence, our team proposes to research into the topic to find ways to design UIs to reduce and/or mitigate the formation of unhealthy behaviors.</a:t>
            </a:r>
            <a:endParaRPr sz="1600">
              <a:solidFill>
                <a:srgbClr val="005000"/>
              </a:solidFill>
              <a:latin typeface="Arial"/>
              <a:ea typeface="Arial"/>
              <a:cs typeface="Arial"/>
              <a:sym typeface="Arial"/>
            </a:endParaRPr>
          </a:p>
          <a:p>
            <a:pPr indent="0" lvl="0" marL="0" rtl="0" algn="just">
              <a:lnSpc>
                <a:spcPct val="100000"/>
              </a:lnSpc>
              <a:spcBef>
                <a:spcPts val="0"/>
              </a:spcBef>
              <a:spcAft>
                <a:spcPts val="0"/>
              </a:spcAft>
              <a:buNone/>
            </a:pPr>
            <a:r>
              <a:t/>
            </a:r>
            <a:endParaRPr b="1" sz="1600">
              <a:solidFill>
                <a:srgbClr val="005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10" name="Shape 310"/>
        <p:cNvGrpSpPr/>
        <p:nvPr/>
      </p:nvGrpSpPr>
      <p:grpSpPr>
        <a:xfrm>
          <a:off x="0" y="0"/>
          <a:ext cx="0" cy="0"/>
          <a:chOff x="0" y="0"/>
          <a:chExt cx="0" cy="0"/>
        </a:xfrm>
      </p:grpSpPr>
      <p:sp>
        <p:nvSpPr>
          <p:cNvPr id="311" name="Google Shape;311;p19"/>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Statement</a:t>
            </a:r>
            <a:endParaRPr/>
          </a:p>
        </p:txBody>
      </p:sp>
      <p:sp>
        <p:nvSpPr>
          <p:cNvPr id="312" name="Google Shape;312;p19"/>
          <p:cNvSpPr txBox="1"/>
          <p:nvPr>
            <p:ph idx="1" type="body"/>
          </p:nvPr>
        </p:nvSpPr>
        <p:spPr>
          <a:xfrm>
            <a:off x="1303800" y="1298175"/>
            <a:ext cx="7030500" cy="3233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sz="2400">
                <a:solidFill>
                  <a:srgbClr val="005000"/>
                </a:solidFill>
                <a:latin typeface="Arial"/>
                <a:ea typeface="Arial"/>
                <a:cs typeface="Arial"/>
                <a:sym typeface="Arial"/>
              </a:rPr>
              <a:t>How might we reduce the promotion of unhealthy habits on the user interfaces of social media applications?</a:t>
            </a:r>
            <a:endParaRPr sz="2400">
              <a:solidFill>
                <a:srgbClr val="005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16" name="Shape 316"/>
        <p:cNvGrpSpPr/>
        <p:nvPr/>
      </p:nvGrpSpPr>
      <p:grpSpPr>
        <a:xfrm>
          <a:off x="0" y="0"/>
          <a:ext cx="0" cy="0"/>
          <a:chOff x="0" y="0"/>
          <a:chExt cx="0" cy="0"/>
        </a:xfrm>
      </p:grpSpPr>
      <p:sp>
        <p:nvSpPr>
          <p:cNvPr id="317" name="Google Shape;317;p20"/>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318" name="Google Shape;318;p20"/>
          <p:cNvSpPr txBox="1"/>
          <p:nvPr>
            <p:ph idx="1" type="body"/>
          </p:nvPr>
        </p:nvSpPr>
        <p:spPr>
          <a:xfrm>
            <a:off x="1303800" y="1298175"/>
            <a:ext cx="7030500" cy="3233400"/>
          </a:xfrm>
          <a:prstGeom prst="rect">
            <a:avLst/>
          </a:prstGeom>
        </p:spPr>
        <p:txBody>
          <a:bodyPr anchorCtr="0" anchor="ctr" bIns="91425" lIns="91425" spcFirstLastPara="1" rIns="91425" wrap="square" tIns="91425">
            <a:normAutofit/>
          </a:bodyPr>
          <a:lstStyle/>
          <a:p>
            <a:pPr indent="-381000" lvl="0" marL="457200" rtl="0" algn="just">
              <a:lnSpc>
                <a:spcPct val="100000"/>
              </a:lnSpc>
              <a:spcBef>
                <a:spcPts val="0"/>
              </a:spcBef>
              <a:spcAft>
                <a:spcPts val="0"/>
              </a:spcAft>
              <a:buClr>
                <a:srgbClr val="005000"/>
              </a:buClr>
              <a:buSzPts val="2400"/>
              <a:buFont typeface="Arial"/>
              <a:buChar char="●"/>
            </a:pPr>
            <a:r>
              <a:rPr baseline="-25000" lang="en" sz="2400">
                <a:solidFill>
                  <a:schemeClr val="hlink"/>
                </a:solidFill>
                <a:uFill>
                  <a:noFill/>
                </a:uFill>
                <a:latin typeface="Arial"/>
                <a:ea typeface="Arial"/>
                <a:cs typeface="Arial"/>
                <a:sym typeface="Arial"/>
                <a:hlinkClick r:id="rId3"/>
              </a:rPr>
              <a:t>https://aaltodoc.aalto.fi/items/c3441e18-c27d-4a67-8a06-219502bf4ad3</a:t>
            </a:r>
            <a:endParaRPr baseline="-25000" sz="2400">
              <a:solidFill>
                <a:srgbClr val="005000"/>
              </a:solidFill>
              <a:latin typeface="Arial"/>
              <a:ea typeface="Arial"/>
              <a:cs typeface="Arial"/>
              <a:sym typeface="Arial"/>
            </a:endParaRPr>
          </a:p>
          <a:p>
            <a:pPr indent="-381000" lvl="0" marL="457200" rtl="0" algn="just">
              <a:lnSpc>
                <a:spcPct val="100000"/>
              </a:lnSpc>
              <a:spcBef>
                <a:spcPts val="0"/>
              </a:spcBef>
              <a:spcAft>
                <a:spcPts val="0"/>
              </a:spcAft>
              <a:buClr>
                <a:srgbClr val="005000"/>
              </a:buClr>
              <a:buSzPts val="2400"/>
              <a:buFont typeface="Arial"/>
              <a:buChar char="●"/>
            </a:pPr>
            <a:r>
              <a:rPr baseline="-25000" lang="en" sz="2400">
                <a:solidFill>
                  <a:schemeClr val="hlink"/>
                </a:solidFill>
                <a:uFill>
                  <a:noFill/>
                </a:uFill>
                <a:latin typeface="Arial"/>
                <a:ea typeface="Arial"/>
                <a:cs typeface="Arial"/>
                <a:sym typeface="Arial"/>
                <a:hlinkClick r:id="rId4"/>
              </a:rPr>
              <a:t>https://tmb.apaopen.org/pub/nn9uaqsz/release/3</a:t>
            </a:r>
            <a:endParaRPr baseline="-25000" sz="2400">
              <a:solidFill>
                <a:srgbClr val="005000"/>
              </a:solidFill>
              <a:latin typeface="Arial"/>
              <a:ea typeface="Arial"/>
              <a:cs typeface="Arial"/>
              <a:sym typeface="Arial"/>
            </a:endParaRPr>
          </a:p>
          <a:p>
            <a:pPr indent="-381000" lvl="0" marL="457200" rtl="0" algn="just">
              <a:lnSpc>
                <a:spcPct val="100000"/>
              </a:lnSpc>
              <a:spcBef>
                <a:spcPts val="0"/>
              </a:spcBef>
              <a:spcAft>
                <a:spcPts val="0"/>
              </a:spcAft>
              <a:buClr>
                <a:srgbClr val="005000"/>
              </a:buClr>
              <a:buSzPts val="2400"/>
              <a:buFont typeface="Arial"/>
              <a:buChar char="●"/>
            </a:pPr>
            <a:r>
              <a:rPr baseline="-25000" lang="en" sz="2400">
                <a:solidFill>
                  <a:schemeClr val="hlink"/>
                </a:solidFill>
                <a:uFill>
                  <a:noFill/>
                </a:uFill>
                <a:latin typeface="Arial"/>
                <a:ea typeface="Arial"/>
                <a:cs typeface="Arial"/>
                <a:sym typeface="Arial"/>
                <a:hlinkClick r:id="rId5"/>
              </a:rPr>
              <a:t>https://deepblue.lib.umich.edu/handle/2027.42/193120</a:t>
            </a:r>
            <a:endParaRPr baseline="-25000" sz="2400">
              <a:solidFill>
                <a:srgbClr val="005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761D"/>
        </a:solidFill>
      </p:bgPr>
    </p:bg>
    <p:spTree>
      <p:nvGrpSpPr>
        <p:cNvPr id="322" name="Shape 322"/>
        <p:cNvGrpSpPr/>
        <p:nvPr/>
      </p:nvGrpSpPr>
      <p:grpSpPr>
        <a:xfrm>
          <a:off x="0" y="0"/>
          <a:ext cx="0" cy="0"/>
          <a:chOff x="0" y="0"/>
          <a:chExt cx="0" cy="0"/>
        </a:xfrm>
      </p:grpSpPr>
      <p:sp>
        <p:nvSpPr>
          <p:cNvPr id="323" name="Google Shape;323;p21"/>
          <p:cNvSpPr txBox="1"/>
          <p:nvPr>
            <p:ph type="ctrTitle"/>
          </p:nvPr>
        </p:nvSpPr>
        <p:spPr>
          <a:xfrm>
            <a:off x="824000" y="1613813"/>
            <a:ext cx="4255500" cy="187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4340"/>
              <a:t>Needfinding Proposal#3</a:t>
            </a:r>
            <a:endParaRPr sz="434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27" name="Shape 327"/>
        <p:cNvGrpSpPr/>
        <p:nvPr/>
      </p:nvGrpSpPr>
      <p:grpSpPr>
        <a:xfrm>
          <a:off x="0" y="0"/>
          <a:ext cx="0" cy="0"/>
          <a:chOff x="0" y="0"/>
          <a:chExt cx="0" cy="0"/>
        </a:xfrm>
      </p:grpSpPr>
      <p:sp>
        <p:nvSpPr>
          <p:cNvPr id="328" name="Google Shape;328;p22"/>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SDG and Introduction</a:t>
            </a:r>
            <a:endParaRPr/>
          </a:p>
        </p:txBody>
      </p:sp>
      <p:sp>
        <p:nvSpPr>
          <p:cNvPr id="329" name="Google Shape;329;p22"/>
          <p:cNvSpPr txBox="1"/>
          <p:nvPr>
            <p:ph idx="1" type="body"/>
          </p:nvPr>
        </p:nvSpPr>
        <p:spPr>
          <a:xfrm>
            <a:off x="1303800" y="1298175"/>
            <a:ext cx="7030500" cy="3233400"/>
          </a:xfrm>
          <a:prstGeom prst="rect">
            <a:avLst/>
          </a:prstGeom>
        </p:spPr>
        <p:txBody>
          <a:bodyPr anchorCtr="0" anchor="t" bIns="91425" lIns="91425" spcFirstLastPara="1" rIns="91425" wrap="square" tIns="91425">
            <a:normAutofit/>
          </a:bodyPr>
          <a:lstStyle/>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This proposal focuses on the </a:t>
            </a:r>
            <a:r>
              <a:rPr lang="en" sz="1600" u="sng">
                <a:solidFill>
                  <a:srgbClr val="005000"/>
                </a:solidFill>
                <a:latin typeface="Arial"/>
                <a:ea typeface="Arial"/>
                <a:cs typeface="Arial"/>
                <a:sym typeface="Arial"/>
              </a:rPr>
              <a:t>Sustainable Development Goal</a:t>
            </a:r>
            <a:r>
              <a:rPr lang="en" sz="1600">
                <a:solidFill>
                  <a:srgbClr val="005000"/>
                </a:solidFill>
                <a:latin typeface="Arial"/>
                <a:ea typeface="Arial"/>
                <a:cs typeface="Arial"/>
                <a:sym typeface="Arial"/>
              </a:rPr>
              <a:t> of the United Nations: </a:t>
            </a:r>
            <a:r>
              <a:rPr b="1" lang="en" sz="1600">
                <a:solidFill>
                  <a:srgbClr val="005000"/>
                </a:solidFill>
                <a:latin typeface="Arial"/>
                <a:ea typeface="Arial"/>
                <a:cs typeface="Arial"/>
                <a:sym typeface="Arial"/>
              </a:rPr>
              <a:t>Responsible Consumption and Production </a:t>
            </a:r>
            <a:endParaRPr sz="1600">
              <a:solidFill>
                <a:srgbClr val="005000"/>
              </a:solidFill>
              <a:latin typeface="Arial"/>
              <a:ea typeface="Arial"/>
              <a:cs typeface="Arial"/>
              <a:sym typeface="Arial"/>
            </a:endParaRPr>
          </a:p>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Allow for transparency regarding the materials used for producing an item purchased by a consumer. Make the contents of the material obvious and immediately visible.</a:t>
            </a:r>
            <a:endParaRPr sz="1600">
              <a:solidFill>
                <a:srgbClr val="005000"/>
              </a:solidFill>
              <a:latin typeface="Arial"/>
              <a:ea typeface="Arial"/>
              <a:cs typeface="Arial"/>
              <a:sym typeface="Arial"/>
            </a:endParaRPr>
          </a:p>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Hence, our group proposes a UI for e-commerce websites that would comprehensively break down the components of a product or material, informing the users of the possible risks and encouraging more responsible consumption.</a:t>
            </a:r>
            <a:endParaRPr sz="1600">
              <a:solidFill>
                <a:srgbClr val="005000"/>
              </a:solidFill>
              <a:latin typeface="Arial"/>
              <a:ea typeface="Arial"/>
              <a:cs typeface="Arial"/>
              <a:sym typeface="Arial"/>
            </a:endParaRPr>
          </a:p>
          <a:p>
            <a:pPr indent="0" lvl="0" marL="0" rtl="0" algn="just">
              <a:lnSpc>
                <a:spcPct val="100000"/>
              </a:lnSpc>
              <a:spcBef>
                <a:spcPts val="0"/>
              </a:spcBef>
              <a:spcAft>
                <a:spcPts val="0"/>
              </a:spcAft>
              <a:buNone/>
            </a:pPr>
            <a:r>
              <a:t/>
            </a:r>
            <a:endParaRPr b="1" sz="1600">
              <a:solidFill>
                <a:srgbClr val="005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33" name="Shape 333"/>
        <p:cNvGrpSpPr/>
        <p:nvPr/>
      </p:nvGrpSpPr>
      <p:grpSpPr>
        <a:xfrm>
          <a:off x="0" y="0"/>
          <a:ext cx="0" cy="0"/>
          <a:chOff x="0" y="0"/>
          <a:chExt cx="0" cy="0"/>
        </a:xfrm>
      </p:grpSpPr>
      <p:sp>
        <p:nvSpPr>
          <p:cNvPr id="334" name="Google Shape;334;p23"/>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Statement</a:t>
            </a:r>
            <a:endParaRPr/>
          </a:p>
        </p:txBody>
      </p:sp>
      <p:sp>
        <p:nvSpPr>
          <p:cNvPr id="335" name="Google Shape;335;p23"/>
          <p:cNvSpPr txBox="1"/>
          <p:nvPr>
            <p:ph idx="1" type="body"/>
          </p:nvPr>
        </p:nvSpPr>
        <p:spPr>
          <a:xfrm>
            <a:off x="1303800" y="1298175"/>
            <a:ext cx="7030500" cy="3233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sz="2400">
                <a:solidFill>
                  <a:srgbClr val="005000"/>
                </a:solidFill>
                <a:latin typeface="Arial"/>
                <a:ea typeface="Arial"/>
                <a:cs typeface="Arial"/>
                <a:sym typeface="Arial"/>
              </a:rPr>
              <a:t>How might we make informative online shopping more accessible for online shoppers?</a:t>
            </a:r>
            <a:endParaRPr sz="2400">
              <a:solidFill>
                <a:srgbClr val="005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39" name="Shape 339"/>
        <p:cNvGrpSpPr/>
        <p:nvPr/>
      </p:nvGrpSpPr>
      <p:grpSpPr>
        <a:xfrm>
          <a:off x="0" y="0"/>
          <a:ext cx="0" cy="0"/>
          <a:chOff x="0" y="0"/>
          <a:chExt cx="0" cy="0"/>
        </a:xfrm>
      </p:grpSpPr>
      <p:sp>
        <p:nvSpPr>
          <p:cNvPr id="340" name="Google Shape;340;p24"/>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Research Questions</a:t>
            </a:r>
            <a:endParaRPr/>
          </a:p>
        </p:txBody>
      </p:sp>
      <p:sp>
        <p:nvSpPr>
          <p:cNvPr id="341" name="Google Shape;341;p24"/>
          <p:cNvSpPr txBox="1"/>
          <p:nvPr>
            <p:ph idx="1" type="body"/>
          </p:nvPr>
        </p:nvSpPr>
        <p:spPr>
          <a:xfrm>
            <a:off x="1303800" y="1298175"/>
            <a:ext cx="7030500" cy="3233400"/>
          </a:xfrm>
          <a:prstGeom prst="rect">
            <a:avLst/>
          </a:prstGeom>
        </p:spPr>
        <p:txBody>
          <a:bodyPr anchorCtr="0" anchor="ctr" bIns="91425" lIns="91425" spcFirstLastPara="1" rIns="91425" wrap="square" tIns="91425">
            <a:normAutofit/>
          </a:bodyPr>
          <a:lstStyle/>
          <a:p>
            <a:pPr indent="-349250" lvl="0" marL="457200" rtl="0" algn="just">
              <a:lnSpc>
                <a:spcPct val="100000"/>
              </a:lnSpc>
              <a:spcBef>
                <a:spcPts val="0"/>
              </a:spcBef>
              <a:spcAft>
                <a:spcPts val="0"/>
              </a:spcAft>
              <a:buClr>
                <a:srgbClr val="005000"/>
              </a:buClr>
              <a:buSzPts val="1900"/>
              <a:buFont typeface="Arial"/>
              <a:buChar char="●"/>
            </a:pPr>
            <a:r>
              <a:rPr lang="en" sz="1900">
                <a:solidFill>
                  <a:srgbClr val="005000"/>
                </a:solidFill>
                <a:latin typeface="Arial"/>
                <a:ea typeface="Arial"/>
                <a:cs typeface="Arial"/>
                <a:sym typeface="Arial"/>
              </a:rPr>
              <a:t>What are common toxic materials used in producing products? How common are they?</a:t>
            </a:r>
            <a:endParaRPr sz="1900">
              <a:solidFill>
                <a:srgbClr val="005000"/>
              </a:solidFill>
              <a:latin typeface="Arial"/>
              <a:ea typeface="Arial"/>
              <a:cs typeface="Arial"/>
              <a:sym typeface="Arial"/>
            </a:endParaRPr>
          </a:p>
          <a:p>
            <a:pPr indent="-349250" lvl="0" marL="457200" rtl="0" algn="just">
              <a:lnSpc>
                <a:spcPct val="100000"/>
              </a:lnSpc>
              <a:spcBef>
                <a:spcPts val="0"/>
              </a:spcBef>
              <a:spcAft>
                <a:spcPts val="0"/>
              </a:spcAft>
              <a:buClr>
                <a:srgbClr val="005000"/>
              </a:buClr>
              <a:buSzPts val="1900"/>
              <a:buFont typeface="Arial"/>
              <a:buChar char="●"/>
            </a:pPr>
            <a:r>
              <a:rPr lang="en" sz="1900">
                <a:solidFill>
                  <a:srgbClr val="005000"/>
                </a:solidFill>
                <a:latin typeface="Arial"/>
                <a:ea typeface="Arial"/>
                <a:cs typeface="Arial"/>
                <a:sym typeface="Arial"/>
              </a:rPr>
              <a:t>On which medium do online </a:t>
            </a:r>
            <a:r>
              <a:rPr lang="en" sz="1900">
                <a:solidFill>
                  <a:srgbClr val="005000"/>
                </a:solidFill>
                <a:latin typeface="Arial"/>
                <a:ea typeface="Arial"/>
                <a:cs typeface="Arial"/>
                <a:sym typeface="Arial"/>
              </a:rPr>
              <a:t>shoppers</a:t>
            </a:r>
            <a:r>
              <a:rPr lang="en" sz="1900">
                <a:solidFill>
                  <a:srgbClr val="005000"/>
                </a:solidFill>
                <a:latin typeface="Arial"/>
                <a:ea typeface="Arial"/>
                <a:cs typeface="Arial"/>
                <a:sym typeface="Arial"/>
              </a:rPr>
              <a:t> shop more often (mobile, PC, tablet, etc.)</a:t>
            </a:r>
            <a:endParaRPr sz="1900">
              <a:solidFill>
                <a:srgbClr val="005000"/>
              </a:solidFill>
              <a:latin typeface="Arial"/>
              <a:ea typeface="Arial"/>
              <a:cs typeface="Arial"/>
              <a:sym typeface="Arial"/>
            </a:endParaRPr>
          </a:p>
          <a:p>
            <a:pPr indent="-349250" lvl="0" marL="457200" rtl="0" algn="just">
              <a:lnSpc>
                <a:spcPct val="100000"/>
              </a:lnSpc>
              <a:spcBef>
                <a:spcPts val="0"/>
              </a:spcBef>
              <a:spcAft>
                <a:spcPts val="0"/>
              </a:spcAft>
              <a:buClr>
                <a:srgbClr val="005000"/>
              </a:buClr>
              <a:buSzPts val="1900"/>
              <a:buFont typeface="Arial"/>
              <a:buChar char="●"/>
            </a:pPr>
            <a:r>
              <a:rPr lang="en" sz="1900">
                <a:solidFill>
                  <a:srgbClr val="005000"/>
                </a:solidFill>
                <a:latin typeface="Arial"/>
                <a:ea typeface="Arial"/>
                <a:cs typeface="Arial"/>
                <a:sym typeface="Arial"/>
              </a:rPr>
              <a:t>Why or why don’t online shoppers pay attention to the material </a:t>
            </a:r>
            <a:r>
              <a:rPr lang="en" sz="1900">
                <a:solidFill>
                  <a:srgbClr val="005000"/>
                </a:solidFill>
                <a:latin typeface="Arial"/>
                <a:ea typeface="Arial"/>
                <a:cs typeface="Arial"/>
                <a:sym typeface="Arial"/>
              </a:rPr>
              <a:t>components</a:t>
            </a:r>
            <a:r>
              <a:rPr lang="en" sz="1900">
                <a:solidFill>
                  <a:srgbClr val="005000"/>
                </a:solidFill>
                <a:latin typeface="Arial"/>
                <a:ea typeface="Arial"/>
                <a:cs typeface="Arial"/>
                <a:sym typeface="Arial"/>
              </a:rPr>
              <a:t> of products you buy online? </a:t>
            </a:r>
            <a:endParaRPr sz="1900">
              <a:solidFill>
                <a:srgbClr val="005000"/>
              </a:solidFill>
              <a:latin typeface="Arial"/>
              <a:ea typeface="Arial"/>
              <a:cs typeface="Arial"/>
              <a:sym typeface="Arial"/>
            </a:endParaRPr>
          </a:p>
          <a:p>
            <a:pPr indent="-349250" lvl="0" marL="457200" rtl="0" algn="just">
              <a:lnSpc>
                <a:spcPct val="100000"/>
              </a:lnSpc>
              <a:spcBef>
                <a:spcPts val="0"/>
              </a:spcBef>
              <a:spcAft>
                <a:spcPts val="0"/>
              </a:spcAft>
              <a:buClr>
                <a:srgbClr val="005000"/>
              </a:buClr>
              <a:buSzPts val="1900"/>
              <a:buFont typeface="Arial"/>
              <a:buChar char="●"/>
            </a:pPr>
            <a:r>
              <a:rPr lang="en" sz="1900">
                <a:solidFill>
                  <a:srgbClr val="005000"/>
                </a:solidFill>
                <a:latin typeface="Arial"/>
                <a:ea typeface="Arial"/>
                <a:cs typeface="Arial"/>
                <a:sym typeface="Arial"/>
              </a:rPr>
              <a:t>What are the toxic reactions among users when they use products that are dangerous?</a:t>
            </a:r>
            <a:endParaRPr sz="1900">
              <a:solidFill>
                <a:srgbClr val="005000"/>
              </a:solidFill>
              <a:latin typeface="Arial"/>
              <a:ea typeface="Arial"/>
              <a:cs typeface="Arial"/>
              <a:sym typeface="Arial"/>
            </a:endParaRPr>
          </a:p>
          <a:p>
            <a:pPr indent="-349250" lvl="0" marL="457200" rtl="0" algn="just">
              <a:lnSpc>
                <a:spcPct val="100000"/>
              </a:lnSpc>
              <a:spcBef>
                <a:spcPts val="0"/>
              </a:spcBef>
              <a:spcAft>
                <a:spcPts val="0"/>
              </a:spcAft>
              <a:buClr>
                <a:srgbClr val="005000"/>
              </a:buClr>
              <a:buSzPts val="1900"/>
              <a:buFont typeface="Arial"/>
              <a:buChar char="●"/>
            </a:pPr>
            <a:r>
              <a:rPr lang="en" sz="1900">
                <a:solidFill>
                  <a:srgbClr val="005000"/>
                </a:solidFill>
                <a:latin typeface="Arial"/>
                <a:ea typeface="Arial"/>
                <a:cs typeface="Arial"/>
                <a:sym typeface="Arial"/>
              </a:rPr>
              <a:t>How aware are users of the toxic materials found in products commonly sold in e-commerce services?</a:t>
            </a:r>
            <a:endParaRPr sz="1900">
              <a:solidFill>
                <a:srgbClr val="005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761D"/>
        </a:solidFill>
      </p:bgPr>
    </p:bg>
    <p:spTree>
      <p:nvGrpSpPr>
        <p:cNvPr id="345" name="Shape 345"/>
        <p:cNvGrpSpPr/>
        <p:nvPr/>
      </p:nvGrpSpPr>
      <p:grpSpPr>
        <a:xfrm>
          <a:off x="0" y="0"/>
          <a:ext cx="0" cy="0"/>
          <a:chOff x="0" y="0"/>
          <a:chExt cx="0" cy="0"/>
        </a:xfrm>
      </p:grpSpPr>
      <p:sp>
        <p:nvSpPr>
          <p:cNvPr id="346" name="Google Shape;346;p25"/>
          <p:cNvSpPr txBox="1"/>
          <p:nvPr>
            <p:ph type="ctrTitle"/>
          </p:nvPr>
        </p:nvSpPr>
        <p:spPr>
          <a:xfrm>
            <a:off x="824000" y="1613813"/>
            <a:ext cx="4255500" cy="187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4340"/>
              <a:t>Needfinding Proposal#5</a:t>
            </a:r>
            <a:endParaRPr sz="434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50" name="Shape 350"/>
        <p:cNvGrpSpPr/>
        <p:nvPr/>
      </p:nvGrpSpPr>
      <p:grpSpPr>
        <a:xfrm>
          <a:off x="0" y="0"/>
          <a:ext cx="0" cy="0"/>
          <a:chOff x="0" y="0"/>
          <a:chExt cx="0" cy="0"/>
        </a:xfrm>
      </p:grpSpPr>
      <p:sp>
        <p:nvSpPr>
          <p:cNvPr id="351" name="Google Shape;351;p26"/>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SDG and Introduction</a:t>
            </a:r>
            <a:endParaRPr/>
          </a:p>
        </p:txBody>
      </p:sp>
      <p:sp>
        <p:nvSpPr>
          <p:cNvPr id="352" name="Google Shape;352;p26"/>
          <p:cNvSpPr txBox="1"/>
          <p:nvPr>
            <p:ph idx="1" type="body"/>
          </p:nvPr>
        </p:nvSpPr>
        <p:spPr>
          <a:xfrm>
            <a:off x="1303800" y="1298175"/>
            <a:ext cx="7030500" cy="3233400"/>
          </a:xfrm>
          <a:prstGeom prst="rect">
            <a:avLst/>
          </a:prstGeom>
        </p:spPr>
        <p:txBody>
          <a:bodyPr anchorCtr="0" anchor="t" bIns="91425" lIns="91425" spcFirstLastPara="1" rIns="91425" wrap="square" tIns="91425">
            <a:normAutofit/>
          </a:bodyPr>
          <a:lstStyle/>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This proposal focuses on the </a:t>
            </a:r>
            <a:r>
              <a:rPr lang="en" sz="1600" u="sng">
                <a:solidFill>
                  <a:srgbClr val="005000"/>
                </a:solidFill>
                <a:latin typeface="Arial"/>
                <a:ea typeface="Arial"/>
                <a:cs typeface="Arial"/>
                <a:sym typeface="Arial"/>
              </a:rPr>
              <a:t>Sustainable Development Goal</a:t>
            </a:r>
            <a:r>
              <a:rPr lang="en" sz="1600">
                <a:solidFill>
                  <a:srgbClr val="005000"/>
                </a:solidFill>
                <a:latin typeface="Arial"/>
                <a:ea typeface="Arial"/>
                <a:cs typeface="Arial"/>
                <a:sym typeface="Arial"/>
              </a:rPr>
              <a:t> of the United Nations: </a:t>
            </a:r>
            <a:r>
              <a:rPr b="1" lang="en" sz="1600">
                <a:solidFill>
                  <a:srgbClr val="005000"/>
                </a:solidFill>
                <a:latin typeface="Arial"/>
                <a:ea typeface="Arial"/>
                <a:cs typeface="Arial"/>
                <a:sym typeface="Arial"/>
              </a:rPr>
              <a:t>Sustainable Cities and Communities</a:t>
            </a:r>
            <a:endParaRPr sz="1600">
              <a:solidFill>
                <a:srgbClr val="005000"/>
              </a:solidFill>
              <a:latin typeface="Arial"/>
              <a:ea typeface="Arial"/>
              <a:cs typeface="Arial"/>
              <a:sym typeface="Arial"/>
            </a:endParaRPr>
          </a:p>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Many government departments’ websites, which offer important services and funds for urban development, are disconnected from each other and lack a central hub to access each service. Additionally, partner organizations are not easily found or accessible under their respective websites.</a:t>
            </a:r>
            <a:endParaRPr sz="1600">
              <a:solidFill>
                <a:srgbClr val="005000"/>
              </a:solidFill>
              <a:latin typeface="Arial"/>
              <a:ea typeface="Arial"/>
              <a:cs typeface="Arial"/>
              <a:sym typeface="Arial"/>
            </a:endParaRPr>
          </a:p>
          <a:p>
            <a:pPr indent="-238759" lvl="0" marL="182880" rtl="0" algn="just">
              <a:spcBef>
                <a:spcPts val="0"/>
              </a:spcBef>
              <a:spcAft>
                <a:spcPts val="0"/>
              </a:spcAft>
              <a:buClr>
                <a:srgbClr val="005000"/>
              </a:buClr>
              <a:buSzPts val="1600"/>
              <a:buFont typeface="Maven Pro Medium"/>
              <a:buChar char="●"/>
            </a:pPr>
            <a:r>
              <a:rPr lang="en" sz="1600">
                <a:solidFill>
                  <a:srgbClr val="005000"/>
                </a:solidFill>
                <a:latin typeface="Arial"/>
                <a:ea typeface="Arial"/>
                <a:cs typeface="Arial"/>
                <a:sym typeface="Arial"/>
              </a:rPr>
              <a:t>Hence, our group proposes to develop a simple and easily-accessible hub website that links each department</a:t>
            </a:r>
            <a:endParaRPr sz="1600">
              <a:solidFill>
                <a:srgbClr val="005000"/>
              </a:solidFill>
              <a:latin typeface="Arial"/>
              <a:ea typeface="Arial"/>
              <a:cs typeface="Arial"/>
              <a:sym typeface="Arial"/>
            </a:endParaRPr>
          </a:p>
          <a:p>
            <a:pPr indent="0" lvl="0" marL="0" rtl="0" algn="just">
              <a:lnSpc>
                <a:spcPct val="100000"/>
              </a:lnSpc>
              <a:spcBef>
                <a:spcPts val="0"/>
              </a:spcBef>
              <a:spcAft>
                <a:spcPts val="0"/>
              </a:spcAft>
              <a:buNone/>
            </a:pPr>
            <a:r>
              <a:t/>
            </a:r>
            <a:endParaRPr b="1" sz="1600">
              <a:solidFill>
                <a:srgbClr val="005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56" name="Shape 356"/>
        <p:cNvGrpSpPr/>
        <p:nvPr/>
      </p:nvGrpSpPr>
      <p:grpSpPr>
        <a:xfrm>
          <a:off x="0" y="0"/>
          <a:ext cx="0" cy="0"/>
          <a:chOff x="0" y="0"/>
          <a:chExt cx="0" cy="0"/>
        </a:xfrm>
      </p:grpSpPr>
      <p:sp>
        <p:nvSpPr>
          <p:cNvPr id="357" name="Google Shape;357;p27"/>
          <p:cNvSpPr txBox="1"/>
          <p:nvPr>
            <p:ph type="title"/>
          </p:nvPr>
        </p:nvSpPr>
        <p:spPr>
          <a:xfrm>
            <a:off x="1303800" y="598575"/>
            <a:ext cx="7030500" cy="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Statement</a:t>
            </a:r>
            <a:endParaRPr/>
          </a:p>
        </p:txBody>
      </p:sp>
      <p:sp>
        <p:nvSpPr>
          <p:cNvPr id="358" name="Google Shape;358;p27"/>
          <p:cNvSpPr txBox="1"/>
          <p:nvPr>
            <p:ph idx="1" type="body"/>
          </p:nvPr>
        </p:nvSpPr>
        <p:spPr>
          <a:xfrm>
            <a:off x="1303800" y="1298175"/>
            <a:ext cx="7030500" cy="3233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sz="2400">
                <a:solidFill>
                  <a:srgbClr val="005000"/>
                </a:solidFill>
                <a:latin typeface="Arial"/>
                <a:ea typeface="Arial"/>
                <a:cs typeface="Arial"/>
                <a:sym typeface="Arial"/>
              </a:rPr>
              <a:t>How might we improve the accessibility of local government websites?</a:t>
            </a:r>
            <a:endParaRPr sz="2400">
              <a:solidFill>
                <a:srgbClr val="005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